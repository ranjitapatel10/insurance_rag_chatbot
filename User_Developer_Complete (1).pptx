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365760"/>
            <a:ext cx="3474720" cy="3474720"/>
          </a:xfrm>
          <a:prstGeom prst="ellipse">
            <a:avLst/>
          </a:prstGeom>
          <a:solidFill>
            <a:srgbClr val="1A3260">
              <a:alpha val="6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ADDF"/>
                </a:solidFill>
              </a:rPr>
              <a:t>INSURANCE POLICY RAG CHATBOT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User Journey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Developer Deployment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CD8"/>
                </a:solidFill>
              </a:rPr>
              <a:t>End-to-End Architecture — From URL to Answer to Production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07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CD8"/>
                </a:solidFill>
              </a:rPr>
              <a:t>Suresh D R  |  AI Product Developer &amp; Technology Mentor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C3D9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Suresh D R  |  AI Product Developer &amp; Technology Mentor  |  Insurance Policy RAG Chatbot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</a:rPr>
              <a:t>Complete User Journey — From URL to Answer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Everything a user experiences — opening the app, loading documents, asking a question, seeing the answer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73152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EDE8F9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78638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9E"/>
                </a:solidFill>
              </a:rPr>
              <a:t>Step 1 — User opens URL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89611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https://insurance-rag.yourcompany.com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914" cy="164592"/>
          </a:xfrm>
          <a:prstGeom prst="line">
            <a:avLst/>
          </a:prstGeom>
          <a:noFill/>
          <a:ln w="11430">
            <a:solidFill>
              <a:srgbClr val="5C3D9E"/>
            </a:solidFill>
            <a:prstDash val="solid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3108960" y="13716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5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26464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Step 2 — Login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536192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JWT token · tenant_id assigned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847088"/>
            <a:ext cx="914" cy="146304"/>
          </a:xfrm>
          <a:prstGeom prst="line">
            <a:avLst/>
          </a:prstGeom>
          <a:noFill/>
          <a:ln w="11430">
            <a:solidFill>
              <a:srgbClr val="4A5568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365760" y="1993392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48256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FA8"/>
                </a:solidFill>
              </a:rPr>
              <a:t>Step 3 — User sees the 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21408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Two options: (A) Upload documents   OR   (B) Press "Load Data from S3" button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2432304"/>
            <a:ext cx="914" cy="201168"/>
          </a:xfrm>
          <a:prstGeom prst="line">
            <a:avLst/>
          </a:prstGeom>
          <a:noFill/>
          <a:ln w="10160">
            <a:solidFill>
              <a:srgbClr val="0B7B6B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7132320" y="2432304"/>
            <a:ext cx="914" cy="201168"/>
          </a:xfrm>
          <a:prstGeom prst="line">
            <a:avLst/>
          </a:prstGeom>
          <a:noFill/>
          <a:ln w="10160">
            <a:solidFill>
              <a:srgbClr val="B86B00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365760" y="2633472"/>
            <a:ext cx="3931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8890">
            <a:solidFill>
              <a:srgbClr val="0B7B6B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475488" y="2688336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B6B"/>
                </a:solidFill>
              </a:rPr>
              <a:t>Option A — upload documents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816352"/>
            <a:ext cx="1737360" cy="603504"/>
          </a:xfrm>
          <a:prstGeom prst="roundRect">
            <a:avLst>
              <a:gd name="adj" fmla="val 12121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712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B6B"/>
                </a:solidFill>
              </a:rPr>
              <a:t>Upload PDF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108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Policy · claims · manual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40280" y="3118104"/>
            <a:ext cx="274320" cy="0"/>
          </a:xfrm>
          <a:prstGeom prst="line">
            <a:avLst/>
          </a:prstGeom>
          <a:noFill/>
          <a:ln w="10160">
            <a:solidFill>
              <a:srgbClr val="0B7B6B"/>
            </a:solidFill>
            <a:prstDash val="solid"/>
            <a:tailEnd type="open"/>
          </a:ln>
        </p:spPr>
      </p:sp>
      <p:sp>
        <p:nvSpPr>
          <p:cNvPr id="27" name="Shape 25"/>
          <p:cNvSpPr/>
          <p:nvPr/>
        </p:nvSpPr>
        <p:spPr>
          <a:xfrm>
            <a:off x="2514600" y="2816352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87121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B6B"/>
                </a:solidFill>
              </a:rPr>
              <a:t>S3→Lambda→SQS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310896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Celery processes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633472"/>
            <a:ext cx="39319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8890">
            <a:solidFill>
              <a:srgbClr val="B86B00"/>
            </a:solidFill>
            <a:prstDash val="sysDash"/>
          </a:ln>
        </p:spPr>
      </p:sp>
      <p:sp>
        <p:nvSpPr>
          <p:cNvPr id="31" name="Text 29"/>
          <p:cNvSpPr/>
          <p:nvPr/>
        </p:nvSpPr>
        <p:spPr>
          <a:xfrm>
            <a:off x="4956048" y="2688336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6B00"/>
                </a:solidFill>
              </a:rPr>
              <a:t>Option B — load from S3 button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83480" y="2816352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87121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B00"/>
                </a:solidFill>
              </a:rPr>
              <a:t>Press button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310896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One click load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9400" y="3118104"/>
            <a:ext cx="274320" cy="0"/>
          </a:xfrm>
          <a:prstGeom prst="line">
            <a:avLst/>
          </a:prstGeom>
          <a:noFill/>
          <a:ln w="10160">
            <a:solidFill>
              <a:srgbClr val="B86B00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6903720" y="2816352"/>
            <a:ext cx="1737360" cy="603504"/>
          </a:xfrm>
          <a:prstGeom prst="roundRect">
            <a:avLst>
              <a:gd name="adj" fmla="val 12121"/>
            </a:avLst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28712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B00"/>
                </a:solidFill>
              </a:rPr>
              <a:t>POST /ingest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3108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Bulk load script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0" y="3511296"/>
            <a:ext cx="914" cy="128016"/>
          </a:xfrm>
          <a:prstGeom prst="line">
            <a:avLst/>
          </a:prstGeom>
          <a:noFill/>
          <a:ln w="10160">
            <a:solidFill>
              <a:srgbClr val="0B7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3511296"/>
            <a:ext cx="914" cy="128016"/>
          </a:xfrm>
          <a:prstGeom prst="line">
            <a:avLst/>
          </a:prstGeom>
          <a:noFill/>
          <a:ln w="10160">
            <a:solidFill>
              <a:srgbClr val="B86B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3639312"/>
            <a:ext cx="457200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639312"/>
            <a:ext cx="914" cy="182880"/>
          </a:xfrm>
          <a:prstGeom prst="line">
            <a:avLst/>
          </a:prstGeom>
          <a:noFill/>
          <a:ln w="11430">
            <a:solidFill>
              <a:srgbClr val="4A5568"/>
            </a:solidFill>
            <a:prstDash val="solid"/>
            <a:tailEnd type="open"/>
          </a:ln>
        </p:spPr>
      </p:sp>
      <p:sp>
        <p:nvSpPr>
          <p:cNvPr id="43" name="Shape 4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E4F4EB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877056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A"/>
                </a:solidFill>
              </a:rPr>
              <a:t>Step 4 — Processing pipeline runs automatically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3950208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Parse → Clean → Chunk → Embed (OpenAI) → Store in ChromaDB · Build BM25 index · Ready to query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Suresh D R  |  AI Product Developer &amp; Technology Mentor  |  Insurance Policy RAG Chatbot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</a:rPr>
              <a:t>Step 5 — User Asks a Question (Inside the Pipeline)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What happens inside the system from question to answer — 9 steps, ~8 seconds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731520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EDE8F9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795528"/>
            <a:ext cx="274320" cy="27432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95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76809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D9E"/>
                </a:solidFill>
              </a:rPr>
              <a:t>User types question in chat box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950976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"Is my cataract surgery covered?"  →  React sends POST /query to API Gateway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133856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365760" y="1207008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F4F5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271016"/>
            <a:ext cx="274320" cy="274320"/>
          </a:xfrm>
          <a:prstGeom prst="ellipse">
            <a:avLst/>
          </a:prstGeom>
          <a:solidFill>
            <a:srgbClr val="4A556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271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124358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API Gateway — auth + routing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142646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JWT verified · rate limit checked · request routed to FastAPI on ECS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609344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365760" y="1682496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FDEAEA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1746504"/>
            <a:ext cx="274320" cy="27432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1746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171907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Input guardrails check the question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1901952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PII? BLOCK  ·  Injection? BLOCK  ·  Out of scope? BLOCK  ·  Clean? → Continue ↓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084832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365760" y="2157984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EDE8F9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221992"/>
            <a:ext cx="274320" cy="27432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" y="21945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D9E"/>
                </a:solidFill>
              </a:rPr>
              <a:t>Query classifier detects 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2377440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GPT-4o-mini classifies: factual / calculation / multi-hop / eligibility / negation / comparison…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560320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32" name="Shape 30"/>
          <p:cNvSpPr/>
          <p:nvPr/>
        </p:nvSpPr>
        <p:spPr>
          <a:xfrm>
            <a:off x="365760" y="2633472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E8F0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2697480"/>
            <a:ext cx="274320" cy="274320"/>
          </a:xfrm>
          <a:prstGeom prst="ellipse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" y="26700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8"/>
                </a:solidFill>
              </a:rPr>
              <a:t>Hybrid retrieval + cross-encoder reranking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285292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Vector + BM25 + RRF → top 20 chunks → cross-encoder reads Q+chunk → best 5 chunks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3035808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38" name="Shape 36"/>
          <p:cNvSpPr/>
          <p:nvPr/>
        </p:nvSpPr>
        <p:spPr>
          <a:xfrm>
            <a:off x="365760" y="3108960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3172968"/>
            <a:ext cx="274320" cy="274320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" y="314553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B6B"/>
                </a:solidFill>
              </a:rPr>
              <a:t>GPT-4o generates answer from chunks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" y="3328416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Reads top 5 chunks + right prompt template → writes answer in plain English, cites source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3511296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44" name="Shape 42"/>
          <p:cNvSpPr/>
          <p:nvPr/>
        </p:nvSpPr>
        <p:spPr>
          <a:xfrm>
            <a:off x="365760" y="3584448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3648456"/>
            <a:ext cx="274320" cy="2743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" y="362102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6B00"/>
                </a:solidFill>
              </a:rPr>
              <a:t>Hallucination check + confidence score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380390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Second LLM verifies grounding → SUPPORTED · Similarity + rerank → HIGH ✅ confidence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3986784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50" name="Shape 48"/>
          <p:cNvSpPr/>
          <p:nvPr/>
        </p:nvSpPr>
        <p:spPr>
          <a:xfrm>
            <a:off x="365760" y="4059936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E4F4EB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4123944"/>
            <a:ext cx="274320" cy="27432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123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1248" y="40965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A"/>
                </a:solidFill>
              </a:rPr>
              <a:t>Output guardrails + suggestions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" y="4279392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Add citation · add IRDAI disclaimer · GPT-4o-mini generates 3 follow-up questions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0" y="4462272"/>
            <a:ext cx="914" cy="73152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56" name="Shape 54"/>
          <p:cNvSpPr/>
          <p:nvPr/>
        </p:nvSpPr>
        <p:spPr>
          <a:xfrm>
            <a:off x="365760" y="4535424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" y="4599432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9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1248" y="45720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sees the answer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1248" y="4754880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CD8"/>
                </a:solidFill>
              </a:rPr>
              <a:t>Answer in plain English · HIGH ✅ badge · Source: Section 3.3 · 3 follow-up chips · ~8 seconds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B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Suresh D R  |  AI Product Developer &amp; Technology Mentor  |  Insurance Policy RAG Chatbot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</a:rPr>
              <a:t>Developer Deployment — From Code to Live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Developer pushes code once — GitHub Actions handles everything automatically — system goes live on Kubernetes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713232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8890">
            <a:solidFill>
              <a:srgbClr val="5C3D9E"/>
            </a:solidFill>
            <a:prstDash val="sysDash"/>
          </a:ln>
        </p:spPr>
      </p:sp>
      <p:sp>
        <p:nvSpPr>
          <p:cNvPr id="9" name="Text 7"/>
          <p:cNvSpPr/>
          <p:nvPr/>
        </p:nvSpPr>
        <p:spPr>
          <a:xfrm>
            <a:off x="475488" y="768096"/>
            <a:ext cx="8211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D9E"/>
                </a:solidFill>
              </a:rPr>
              <a:t>Developer — local machine (only two actions)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89611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DE8F9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95097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9E"/>
                </a:solidFill>
              </a:rPr>
              <a:t>Writes backend + frontend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11556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FastAPI .py files · React .jsx · prompts/ · Dockerfile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34840" y="1161288"/>
            <a:ext cx="411480" cy="0"/>
          </a:xfrm>
          <a:prstGeom prst="line">
            <a:avLst/>
          </a:prstGeom>
          <a:noFill/>
          <a:ln w="11430">
            <a:solidFill>
              <a:srgbClr val="5C3D9E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4846320" y="896112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EDE8F9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950976"/>
            <a:ext cx="3630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9E"/>
                </a:solidFill>
              </a:rPr>
              <a:t>git push origin main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115568"/>
            <a:ext cx="3630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This is all the developer does — everything else is automatic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517904"/>
            <a:ext cx="914" cy="182880"/>
          </a:xfrm>
          <a:prstGeom prst="line">
            <a:avLst/>
          </a:prstGeom>
          <a:noFill/>
          <a:ln w="11430">
            <a:solidFill>
              <a:srgbClr val="0B7B6B"/>
            </a:solidFill>
            <a:prstDash val="solid"/>
            <a:tailEnd type="open"/>
          </a:ln>
        </p:spPr>
      </p:sp>
      <p:sp>
        <p:nvSpPr>
          <p:cNvPr id="18" name="Text 16"/>
          <p:cNvSpPr/>
          <p:nvPr/>
        </p:nvSpPr>
        <p:spPr>
          <a:xfrm>
            <a:off x="3200400" y="15727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↓ fully automatic from here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1700784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0B7B6B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475488" y="1755648"/>
            <a:ext cx="8211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B6B"/>
                </a:solidFill>
              </a:rPr>
              <a:t>GitHub Actions CI/CD — runs automatically on every push to main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1865376"/>
            <a:ext cx="1920240" cy="1207008"/>
          </a:xfrm>
          <a:prstGeom prst="roundRect">
            <a:avLst>
              <a:gd name="adj" fmla="val 6061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1920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B6B"/>
                </a:solidFill>
              </a:rPr>
              <a:t>Stage 1 — tests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2249424"/>
            <a:ext cx="1737360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30428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02C"/>
                </a:solidFill>
              </a:rPr>
              <a:t>pytest · lint · security scan. Fail? → stop.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23160" y="2468880"/>
            <a:ext cx="18288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2606040" y="1865376"/>
            <a:ext cx="1920240" cy="1207008"/>
          </a:xfrm>
          <a:prstGeom prst="roundRect">
            <a:avLst>
              <a:gd name="adj" fmla="val 6061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1920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B6B"/>
                </a:solidFill>
              </a:rPr>
              <a:t>Stage 2 — Docker build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2249424"/>
            <a:ext cx="1737360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230428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02C"/>
                </a:solidFill>
              </a:rPr>
              <a:t>Backend image + frontend image built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26280" y="2468880"/>
            <a:ext cx="18288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4709160" y="1865376"/>
            <a:ext cx="1920240" cy="1207008"/>
          </a:xfrm>
          <a:prstGeom prst="roundRect">
            <a:avLst>
              <a:gd name="adj" fmla="val 6061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920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B6B"/>
                </a:solidFill>
              </a:rPr>
              <a:t>Stage 3 — push to ECR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249424"/>
            <a:ext cx="1737360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30428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02C"/>
                </a:solidFill>
              </a:rPr>
              <a:t>Docker images stored in AWS registry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9400" y="2468880"/>
            <a:ext cx="18288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6812280" y="1865376"/>
            <a:ext cx="1920240" cy="1207008"/>
          </a:xfrm>
          <a:prstGeom prst="roundRect">
            <a:avLst>
              <a:gd name="adj" fmla="val 6061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1920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A"/>
                </a:solidFill>
              </a:rPr>
              <a:t>Stage 4 — deploy to EKS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2249424"/>
            <a:ext cx="1737360" cy="0"/>
          </a:xfrm>
          <a:prstGeom prst="line">
            <a:avLst/>
          </a:prstGeom>
          <a:noFill/>
          <a:ln w="6350">
            <a:solidFill>
              <a:srgbClr val="97C4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30428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02C"/>
                </a:solidFill>
              </a:rPr>
              <a:t>Rolling update · zero downtime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3255264"/>
            <a:ext cx="914" cy="146304"/>
          </a:xfrm>
          <a:prstGeom prst="line">
            <a:avLst/>
          </a:prstGeom>
          <a:noFill/>
          <a:ln w="11430">
            <a:solidFill>
              <a:srgbClr val="1E5FA8"/>
            </a:solidFill>
            <a:prstDash val="solid"/>
            <a:tailEnd type="open"/>
          </a:ln>
        </p:spPr>
      </p:sp>
      <p:sp>
        <p:nvSpPr>
          <p:cNvPr id="41" name="Shape 39"/>
          <p:cNvSpPr/>
          <p:nvPr/>
        </p:nvSpPr>
        <p:spPr>
          <a:xfrm>
            <a:off x="365760" y="3401568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8890">
            <a:solidFill>
              <a:srgbClr val="1E5FA8"/>
            </a:solidFill>
            <a:prstDash val="sysDash"/>
          </a:ln>
        </p:spPr>
      </p:sp>
      <p:sp>
        <p:nvSpPr>
          <p:cNvPr id="42" name="Text 40"/>
          <p:cNvSpPr/>
          <p:nvPr/>
        </p:nvSpPr>
        <p:spPr>
          <a:xfrm>
            <a:off x="475488" y="3456432"/>
            <a:ext cx="8211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FA8"/>
                </a:solidFill>
              </a:rPr>
              <a:t>AWS EKS — Kubernetes cluster (live production system)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3566160"/>
            <a:ext cx="1261872" cy="786384"/>
          </a:xfrm>
          <a:prstGeom prst="roundRect">
            <a:avLst>
              <a:gd name="adj" fmla="val 9302"/>
            </a:avLst>
          </a:prstGeom>
          <a:solidFill>
            <a:srgbClr val="E8F0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" y="3602736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FA8"/>
                </a:solidFill>
              </a:rPr>
              <a:t>Frontend pods × 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" y="39319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React + nginx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92808" y="3566160"/>
            <a:ext cx="1261872" cy="786384"/>
          </a:xfrm>
          <a:prstGeom prst="roundRect">
            <a:avLst>
              <a:gd name="adj" fmla="val 9302"/>
            </a:avLst>
          </a:prstGeom>
          <a:solidFill>
            <a:srgbClr val="E8F0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47672" y="3602736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FA8"/>
                </a:solidFill>
              </a:rPr>
              <a:t>Backend pods × 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947672" y="39319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FastAPI pipeline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82696" y="3566160"/>
            <a:ext cx="1261872" cy="786384"/>
          </a:xfrm>
          <a:prstGeom prst="roundRect">
            <a:avLst>
              <a:gd name="adj" fmla="val 9302"/>
            </a:avLst>
          </a:prstGeom>
          <a:solidFill>
            <a:srgbClr val="E8F0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602736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FA8"/>
                </a:solidFill>
              </a:rPr>
              <a:t>Celery workers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337560" y="39319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Doc ingestion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72584" y="3566160"/>
            <a:ext cx="1261872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27448" y="3602736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Ingress + WAF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27448" y="39319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Routes traffic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62472" y="3566160"/>
            <a:ext cx="1261872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17336" y="3602736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Secrets + Config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17336" y="39319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API keys secure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52360" y="3566160"/>
            <a:ext cx="1261872" cy="786384"/>
          </a:xfrm>
          <a:prstGeom prst="roundRect">
            <a:avLst>
              <a:gd name="adj" fmla="val 9302"/>
            </a:avLst>
          </a:prstGeom>
          <a:solidFill>
            <a:srgbClr val="E4F4EB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07224" y="3602736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A"/>
                </a:solidFill>
              </a:rPr>
              <a:t>Auto-rollback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507224" y="39319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Health fail→undo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517136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EF3DC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26864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B00"/>
                </a:solidFill>
              </a:rPr>
              <a:t>Monitoring: LangSmith traces LLM calls · CloudWatch alerts on errors · Slack notifies on deploy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DV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RAG Chatbot — Complete User Journey</dc:title>
  <dc:subject>PptxGenJS Presentation</dc:subject>
  <dc:creator>Suresh D R | AI Product Developer &amp; Technology Mentor</dc:creator>
  <cp:lastModifiedBy>Suresh D R | AI Product Developer &amp; Technology Mentor</cp:lastModifiedBy>
  <cp:revision>1</cp:revision>
  <dcterms:created xsi:type="dcterms:W3CDTF">2026-06-17T15:49:37Z</dcterms:created>
  <dcterms:modified xsi:type="dcterms:W3CDTF">2026-06-17T15:49:37Z</dcterms:modified>
</cp:coreProperties>
</file>